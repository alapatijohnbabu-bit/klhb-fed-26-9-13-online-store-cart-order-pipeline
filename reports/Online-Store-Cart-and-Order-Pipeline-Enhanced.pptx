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Carlito"/>
      <p:regular r:id="rId201314"/>
    </p:embeddedFont>
    <p:embeddedFont>
      <p:font typeface="Carlito Bold"/>
      <p:regular r:id="rId201315"/>
    </p:embeddedFont>
    <p:embeddedFont>
      <p:font typeface="Inconsolata"/>
      <p:regular r:id="rId201316"/>
    </p:embeddedFont>
    <p:embeddedFont>
      <p:font typeface="Inconsolata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>
              <a:gd name="adj" fmla="val 500"/>
            </a:avLst>
          </a:prstGeom>
          <a:solidFill>
            <a:srgbClr val="F7EFE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7572" y="1168400"/>
            <a:ext cx="10032749" cy="3175000"/>
          </a:xfrm>
          <a:prstGeom prst="roundRect">
            <a:avLst>
              <a:gd name="adj" fmla="val 1080"/>
            </a:avLst>
          </a:prstGeom>
          <a:solidFill>
            <a:srgbClr val="E7D4BD"/>
          </a:solidFill>
          <a:ln/>
        </p:spPr>
      </p:sp>
      <p:sp>
        <p:nvSpPr>
          <p:cNvPr id="3" name="Shape 1"/>
          <p:cNvSpPr/>
          <p:nvPr/>
        </p:nvSpPr>
        <p:spPr>
          <a:xfrm>
            <a:off x="965176" y="1016000"/>
            <a:ext cx="10032749" cy="3175000"/>
          </a:xfrm>
          <a:prstGeom prst="roundRect">
            <a:avLst>
              <a:gd name="adj" fmla="val 1080"/>
            </a:avLst>
          </a:prstGeom>
          <a:solidFill>
            <a:srgbClr val="FFFDF8"/>
          </a:solidFill>
          <a:ln/>
        </p:spPr>
      </p:sp>
      <p:sp>
        <p:nvSpPr>
          <p:cNvPr id="4" name="Text 2"/>
          <p:cNvSpPr/>
          <p:nvPr/>
        </p:nvSpPr>
        <p:spPr>
          <a:xfrm>
            <a:off x="717532" y="1016000"/>
            <a:ext cx="1052803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spc="72" kern="0" dirty="0">
                <a:solidFill>
                  <a:srgbClr val="A85D3B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JAVA PROJECT · PROJECT NO. 13 · TEAM 9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22324" y="1333500"/>
            <a:ext cx="9918452" cy="1158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25333B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ONLINE STORE CART</a:t>
            </a:r>
            <a:endParaRPr lang="en-US" sz="3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25333B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&amp; ORDER PIPELINE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022324" y="2691606"/>
            <a:ext cx="9918452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65756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clear, testable journey from product selection to order tracking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432589" y="1168400"/>
            <a:ext cx="2743131" cy="3175000"/>
          </a:xfrm>
          <a:prstGeom prst="roundRect">
            <a:avLst>
              <a:gd name="adj" fmla="val 1250"/>
            </a:avLst>
          </a:prstGeom>
          <a:solidFill>
            <a:srgbClr val="EAD8C4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7341" y="1016000"/>
            <a:ext cx="2628834" cy="35052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117572" y="4546600"/>
            <a:ext cx="10032749" cy="1549400"/>
          </a:xfrm>
          <a:prstGeom prst="roundRect">
            <a:avLst>
              <a:gd name="adj" fmla="val 2213"/>
            </a:avLst>
          </a:prstGeom>
          <a:solidFill>
            <a:srgbClr val="C77B55"/>
          </a:solidFill>
          <a:ln/>
        </p:spPr>
      </p:sp>
      <p:sp>
        <p:nvSpPr>
          <p:cNvPr id="10" name="Shape 7"/>
          <p:cNvSpPr/>
          <p:nvPr/>
        </p:nvSpPr>
        <p:spPr>
          <a:xfrm>
            <a:off x="965176" y="4394200"/>
            <a:ext cx="10032749" cy="1549400"/>
          </a:xfrm>
          <a:prstGeom prst="roundRect">
            <a:avLst>
              <a:gd name="adj" fmla="val 2213"/>
            </a:avLst>
          </a:prstGeom>
          <a:solidFill>
            <a:srgbClr val="445B52"/>
          </a:solidFill>
          <a:ln/>
        </p:spPr>
      </p:sp>
      <p:sp>
        <p:nvSpPr>
          <p:cNvPr id="11" name="Text 8"/>
          <p:cNvSpPr/>
          <p:nvPr/>
        </p:nvSpPr>
        <p:spPr>
          <a:xfrm>
            <a:off x="1022324" y="4394200"/>
            <a:ext cx="991845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DF8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K. Vishnu Preetham — 2620090013</a:t>
            </a:r>
            <a:endParaRPr lang="en-US" sz="14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DF8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K. Shashank Goud — 2620030057</a:t>
            </a:r>
            <a:endParaRPr lang="en-US" sz="14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DF8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A. John Babu — 2620040010</a:t>
            </a:r>
            <a:endParaRPr lang="en-US" sz="14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DF8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Supervisor: Rakesh.K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33347" y="6477000"/>
            <a:ext cx="1192500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7E766B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KLHB-FED-26-9-13 · Java e-commerce workflow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783" y="482600"/>
            <a:ext cx="11048724" cy="914400"/>
          </a:xfrm>
          <a:prstGeom prst="roundRect">
            <a:avLst>
              <a:gd name="adj" fmla="val 3750"/>
            </a:avLst>
          </a:prstGeom>
          <a:solidFill>
            <a:srgbClr val="E7D4BD"/>
          </a:solidFill>
          <a:ln/>
        </p:spPr>
      </p:sp>
      <p:sp>
        <p:nvSpPr>
          <p:cNvPr id="3" name="Shape 1"/>
          <p:cNvSpPr/>
          <p:nvPr/>
        </p:nvSpPr>
        <p:spPr>
          <a:xfrm>
            <a:off x="571486" y="355600"/>
            <a:ext cx="11048724" cy="914400"/>
          </a:xfrm>
          <a:prstGeom prst="roundRect">
            <a:avLst>
              <a:gd name="adj" fmla="val 3750"/>
            </a:avLst>
          </a:prstGeom>
          <a:solidFill>
            <a:srgbClr val="FFFDF8"/>
          </a:solidFill>
          <a:ln/>
        </p:spPr>
      </p:sp>
      <p:sp>
        <p:nvSpPr>
          <p:cNvPr id="4" name="Text 2"/>
          <p:cNvSpPr/>
          <p:nvPr/>
        </p:nvSpPr>
        <p:spPr>
          <a:xfrm>
            <a:off x="628634" y="355600"/>
            <a:ext cx="10934426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25333B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3842" y="1004491"/>
            <a:ext cx="11544011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85D3B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From product selection to a trackable order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783" y="1676400"/>
            <a:ext cx="7937301" cy="3911600"/>
          </a:xfrm>
          <a:prstGeom prst="roundRect">
            <a:avLst>
              <a:gd name="adj" fmla="val 877"/>
            </a:avLst>
          </a:prstGeom>
          <a:solidFill>
            <a:srgbClr val="D8E2D6"/>
          </a:solidFill>
          <a:ln/>
        </p:spPr>
      </p:sp>
      <p:sp>
        <p:nvSpPr>
          <p:cNvPr id="7" name="Shape 5"/>
          <p:cNvSpPr/>
          <p:nvPr/>
        </p:nvSpPr>
        <p:spPr>
          <a:xfrm>
            <a:off x="571486" y="1549400"/>
            <a:ext cx="7937301" cy="3911600"/>
          </a:xfrm>
          <a:prstGeom prst="roundRect">
            <a:avLst>
              <a:gd name="adj" fmla="val 877"/>
            </a:avLst>
          </a:prstGeom>
          <a:solidFill>
            <a:srgbClr val="FFFDF8"/>
          </a:solidFill>
          <a:ln/>
        </p:spPr>
      </p:sp>
      <p:sp>
        <p:nvSpPr>
          <p:cNvPr id="8" name="Text 6"/>
          <p:cNvSpPr/>
          <p:nvPr/>
        </p:nvSpPr>
        <p:spPr>
          <a:xfrm>
            <a:off x="628634" y="1549400"/>
            <a:ext cx="782300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445B5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this project matters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28634" y="2012950"/>
            <a:ext cx="7823004" cy="2228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65760" indent="-365760">
              <a:lnSpc>
                <a:spcPct val="125000"/>
              </a:lnSpc>
              <a:buSzPct val="100000"/>
              <a:buChar char="•"/>
            </a:pPr>
            <a:r>
              <a:rPr lang="en-US" sz="1800" dirty="0">
                <a:solidFill>
                  <a:srgbClr val="3E4A4A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Models the core journey of an online store in a focused Java application.</a:t>
            </a:r>
            <a:endParaRPr lang="en-US" sz="1800" dirty="0"/>
          </a:p>
          <a:p>
            <a:pPr algn="l" marL="365760" indent="-365760">
              <a:lnSpc>
                <a:spcPct val="125000"/>
              </a:lnSpc>
              <a:buSzPct val="100000"/>
              <a:buChar char="•"/>
            </a:pPr>
            <a:r>
              <a:rPr lang="en-US" sz="1800" dirty="0">
                <a:solidFill>
                  <a:srgbClr val="3E4A4A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Connects catalog, inventory, cart, checkout and order state.</a:t>
            </a:r>
            <a:endParaRPr lang="en-US" sz="1800" dirty="0"/>
          </a:p>
          <a:p>
            <a:pPr algn="l" marL="365760" indent="-365760">
              <a:lnSpc>
                <a:spcPct val="125000"/>
              </a:lnSpc>
              <a:buSzPct val="100000"/>
              <a:buChar char="•"/>
            </a:pPr>
            <a:r>
              <a:rPr lang="en-US" sz="1800" dirty="0">
                <a:solidFill>
                  <a:srgbClr val="3E4A4A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Uses payment simulation to validate before an order is created.</a:t>
            </a:r>
            <a:endParaRPr lang="en-US" sz="1800" dirty="0"/>
          </a:p>
          <a:p>
            <a:pPr algn="l" marL="365760" indent="-365760">
              <a:lnSpc>
                <a:spcPct val="125000"/>
              </a:lnSpc>
              <a:buSzPct val="100000"/>
              <a:buChar char="•"/>
            </a:pPr>
            <a:r>
              <a:rPr lang="en-US" sz="1800" dirty="0">
                <a:solidFill>
                  <a:srgbClr val="3E4A4A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Keeps responsibilities modular for future interfaces or persistence.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940576" y="1676400"/>
            <a:ext cx="2793930" cy="3911600"/>
          </a:xfrm>
          <a:prstGeom prst="roundRect">
            <a:avLst>
              <a:gd name="adj" fmla="val 1227"/>
            </a:avLst>
          </a:prstGeom>
          <a:solidFill>
            <a:srgbClr val="EAD8C4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83428" y="1549400"/>
            <a:ext cx="2679633" cy="3572867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33347" y="6477000"/>
            <a:ext cx="1192500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7E766B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02 · Online Store Cart &amp; Order Pipeline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783" y="457200"/>
            <a:ext cx="11048724" cy="838200"/>
          </a:xfrm>
          <a:prstGeom prst="roundRect">
            <a:avLst>
              <a:gd name="adj" fmla="val 4091"/>
            </a:avLst>
          </a:prstGeom>
          <a:solidFill>
            <a:srgbClr val="E7D4BD"/>
          </a:solidFill>
          <a:ln/>
        </p:spPr>
      </p:sp>
      <p:sp>
        <p:nvSpPr>
          <p:cNvPr id="3" name="Shape 1"/>
          <p:cNvSpPr/>
          <p:nvPr/>
        </p:nvSpPr>
        <p:spPr>
          <a:xfrm>
            <a:off x="571486" y="330200"/>
            <a:ext cx="11048724" cy="838200"/>
          </a:xfrm>
          <a:prstGeom prst="roundRect">
            <a:avLst>
              <a:gd name="adj" fmla="val 4091"/>
            </a:avLst>
          </a:prstGeom>
          <a:solidFill>
            <a:srgbClr val="FFFDF8"/>
          </a:solidFill>
          <a:ln/>
        </p:spPr>
      </p:sp>
      <p:sp>
        <p:nvSpPr>
          <p:cNvPr id="4" name="Text 2"/>
          <p:cNvSpPr/>
          <p:nvPr/>
        </p:nvSpPr>
        <p:spPr>
          <a:xfrm>
            <a:off x="628634" y="330200"/>
            <a:ext cx="10934426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25333B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783" y="1422400"/>
            <a:ext cx="11048724" cy="4648200"/>
          </a:xfrm>
          <a:prstGeom prst="roundRect">
            <a:avLst>
              <a:gd name="adj" fmla="val 738"/>
            </a:avLst>
          </a:prstGeom>
          <a:solidFill>
            <a:srgbClr val="D8E2D6"/>
          </a:solidFill>
          <a:ln/>
        </p:spPr>
      </p:sp>
      <p:sp>
        <p:nvSpPr>
          <p:cNvPr id="6" name="Shape 4"/>
          <p:cNvSpPr/>
          <p:nvPr/>
        </p:nvSpPr>
        <p:spPr>
          <a:xfrm>
            <a:off x="571486" y="1295400"/>
            <a:ext cx="11048724" cy="4648200"/>
          </a:xfrm>
          <a:prstGeom prst="roundRect">
            <a:avLst>
              <a:gd name="adj" fmla="val 738"/>
            </a:avLst>
          </a:prstGeom>
          <a:solidFill>
            <a:srgbClr val="FFFDF8"/>
          </a:solidFill>
          <a:ln/>
        </p:spPr>
      </p:sp>
      <p:sp>
        <p:nvSpPr>
          <p:cNvPr id="7" name="Text 5"/>
          <p:cNvSpPr/>
          <p:nvPr/>
        </p:nvSpPr>
        <p:spPr>
          <a:xfrm>
            <a:off x="628634" y="1295400"/>
            <a:ext cx="1093442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A85D3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challenge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28634" y="1758950"/>
            <a:ext cx="10934426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E4A4A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Catalog data, cart changes, payment checks and order status become difficult to reason about when they are treated as disconnected actions.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28634" y="2749550"/>
            <a:ext cx="10934426" cy="289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445B5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project response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28634" y="3197820"/>
            <a:ext cx="109344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65760" indent="-365760">
              <a:lnSpc>
                <a:spcPct val="125000"/>
              </a:lnSpc>
              <a:buSzPct val="100000"/>
              <a:buChar char="•"/>
            </a:pPr>
            <a:r>
              <a:rPr lang="en-US" sz="1800" dirty="0">
                <a:solidFill>
                  <a:srgbClr val="3E4A4A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Give products, customers, carts and orders clear responsibilities.</a:t>
            </a:r>
            <a:endParaRPr lang="en-US" sz="1800" dirty="0"/>
          </a:p>
          <a:p>
            <a:pPr algn="l" marL="365760" indent="-365760">
              <a:lnSpc>
                <a:spcPct val="125000"/>
              </a:lnSpc>
              <a:buSzPct val="100000"/>
              <a:buChar char="•"/>
            </a:pPr>
            <a:r>
              <a:rPr lang="en-US" sz="1800" dirty="0">
                <a:solidFill>
                  <a:srgbClr val="3E4A4A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Validate quantities, totals and payment outcomes before commitment.</a:t>
            </a:r>
            <a:endParaRPr lang="en-US" sz="1800" dirty="0"/>
          </a:p>
          <a:p>
            <a:pPr algn="l" marL="365760" indent="-365760">
              <a:lnSpc>
                <a:spcPct val="125000"/>
              </a:lnSpc>
              <a:buSzPct val="100000"/>
              <a:buChar char="•"/>
            </a:pPr>
            <a:r>
              <a:rPr lang="en-US" sz="1800" dirty="0">
                <a:solidFill>
                  <a:srgbClr val="3E4A4A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Represent fulfillment as visible states that can be followed and tested.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3347" y="6477000"/>
            <a:ext cx="1192500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7E766B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03 · From disconnected actions to one traceable pipeline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783" y="457200"/>
            <a:ext cx="11048724" cy="838200"/>
          </a:xfrm>
          <a:prstGeom prst="roundRect">
            <a:avLst>
              <a:gd name="adj" fmla="val 4091"/>
            </a:avLst>
          </a:prstGeom>
          <a:solidFill>
            <a:srgbClr val="E7D4BD"/>
          </a:solidFill>
          <a:ln/>
        </p:spPr>
      </p:sp>
      <p:sp>
        <p:nvSpPr>
          <p:cNvPr id="3" name="Shape 1"/>
          <p:cNvSpPr/>
          <p:nvPr/>
        </p:nvSpPr>
        <p:spPr>
          <a:xfrm>
            <a:off x="571486" y="330200"/>
            <a:ext cx="11048724" cy="838200"/>
          </a:xfrm>
          <a:prstGeom prst="roundRect">
            <a:avLst>
              <a:gd name="adj" fmla="val 4091"/>
            </a:avLst>
          </a:prstGeom>
          <a:solidFill>
            <a:srgbClr val="FFFDF8"/>
          </a:solidFill>
          <a:ln/>
        </p:spPr>
      </p:sp>
      <p:sp>
        <p:nvSpPr>
          <p:cNvPr id="4" name="Text 2"/>
          <p:cNvSpPr/>
          <p:nvPr/>
        </p:nvSpPr>
        <p:spPr>
          <a:xfrm>
            <a:off x="628634" y="330200"/>
            <a:ext cx="10934426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25333B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Objectives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783" y="1422400"/>
            <a:ext cx="11048724" cy="4826000"/>
          </a:xfrm>
          <a:prstGeom prst="roundRect">
            <a:avLst>
              <a:gd name="adj" fmla="val 711"/>
            </a:avLst>
          </a:prstGeom>
          <a:solidFill>
            <a:srgbClr val="D8E2D6"/>
          </a:solidFill>
          <a:ln/>
        </p:spPr>
      </p:sp>
      <p:sp>
        <p:nvSpPr>
          <p:cNvPr id="6" name="Shape 4"/>
          <p:cNvSpPr/>
          <p:nvPr/>
        </p:nvSpPr>
        <p:spPr>
          <a:xfrm>
            <a:off x="571486" y="1295400"/>
            <a:ext cx="11048724" cy="4826000"/>
          </a:xfrm>
          <a:prstGeom prst="roundRect">
            <a:avLst>
              <a:gd name="adj" fmla="val 711"/>
            </a:avLst>
          </a:prstGeom>
          <a:solidFill>
            <a:srgbClr val="FFFDF8"/>
          </a:solidFill>
          <a:ln/>
        </p:spPr>
      </p:sp>
      <p:sp>
        <p:nvSpPr>
          <p:cNvPr id="7" name="Text 5"/>
          <p:cNvSpPr/>
          <p:nvPr/>
        </p:nvSpPr>
        <p:spPr>
          <a:xfrm>
            <a:off x="628634" y="1295400"/>
            <a:ext cx="1093442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445B5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Build · validate · explain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28634" y="1758950"/>
            <a:ext cx="10934426" cy="2343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65760" indent="-365760">
              <a:lnSpc>
                <a:spcPct val="125000"/>
              </a:lnSpc>
              <a:buSzPct val="100000"/>
              <a:buChar char="•"/>
            </a:pPr>
            <a:r>
              <a:rPr lang="en-US" sz="1800" dirty="0">
                <a:solidFill>
                  <a:srgbClr val="3E4A4A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Develop a structured Java simulation of an online-store journey.</a:t>
            </a:r>
            <a:endParaRPr lang="en-US" sz="1800" dirty="0"/>
          </a:p>
          <a:p>
            <a:pPr algn="l" marL="365760" indent="-365760">
              <a:lnSpc>
                <a:spcPct val="125000"/>
              </a:lnSpc>
              <a:buSzPct val="100000"/>
              <a:buChar char="•"/>
            </a:pPr>
            <a:r>
              <a:rPr lang="en-US" sz="1800" dirty="0">
                <a:solidFill>
                  <a:srgbClr val="3E4A4A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Manage products, prices, stock availability and customer selections.</a:t>
            </a:r>
            <a:endParaRPr lang="en-US" sz="1800" dirty="0"/>
          </a:p>
          <a:p>
            <a:pPr algn="l" marL="365760" indent="-365760">
              <a:lnSpc>
                <a:spcPct val="125000"/>
              </a:lnSpc>
              <a:buSzPct val="100000"/>
              <a:buChar char="•"/>
            </a:pPr>
            <a:r>
              <a:rPr lang="en-US" sz="1800" dirty="0">
                <a:solidFill>
                  <a:srgbClr val="3E4A4A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Support cart updates and accurate total calculation.</a:t>
            </a:r>
            <a:endParaRPr lang="en-US" sz="1800" dirty="0"/>
          </a:p>
          <a:p>
            <a:pPr algn="l" marL="365760" indent="-365760">
              <a:lnSpc>
                <a:spcPct val="125000"/>
              </a:lnSpc>
              <a:buSzPct val="100000"/>
              <a:buChar char="•"/>
            </a:pPr>
            <a:r>
              <a:rPr lang="en-US" sz="1800" dirty="0">
                <a:solidFill>
                  <a:srgbClr val="3E4A4A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Validate checkout and simulate payment confirmation.</a:t>
            </a:r>
            <a:endParaRPr lang="en-US" sz="1800" dirty="0"/>
          </a:p>
          <a:p>
            <a:pPr algn="l" marL="365760" indent="-365760">
              <a:lnSpc>
                <a:spcPct val="125000"/>
              </a:lnSpc>
              <a:buSzPct val="100000"/>
              <a:buChar char="•"/>
            </a:pPr>
            <a:r>
              <a:rPr lang="en-US" sz="1800" dirty="0">
                <a:solidFill>
                  <a:srgbClr val="3E4A4A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Create orders and move them through defined fulfillment states.</a:t>
            </a:r>
            <a:endParaRPr lang="en-US" sz="1800" dirty="0"/>
          </a:p>
          <a:p>
            <a:pPr algn="l" marL="365760" indent="-365760">
              <a:lnSpc>
                <a:spcPct val="125000"/>
              </a:lnSpc>
              <a:buSzPct val="100000"/>
              <a:buChar char="•"/>
            </a:pPr>
            <a:r>
              <a:rPr lang="en-US" sz="1800" dirty="0">
                <a:solidFill>
                  <a:srgbClr val="3E4A4A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Apply OOP, collections, validation and modular design practices.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3347" y="6477000"/>
            <a:ext cx="1192500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7E766B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04 · Objectives for a reliable, explainable workflow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783" y="482600"/>
            <a:ext cx="11048724" cy="939800"/>
          </a:xfrm>
          <a:prstGeom prst="roundRect">
            <a:avLst>
              <a:gd name="adj" fmla="val 3649"/>
            </a:avLst>
          </a:prstGeom>
          <a:solidFill>
            <a:srgbClr val="E7D4BD"/>
          </a:solidFill>
          <a:ln/>
        </p:spPr>
      </p:sp>
      <p:sp>
        <p:nvSpPr>
          <p:cNvPr id="3" name="Shape 1"/>
          <p:cNvSpPr/>
          <p:nvPr/>
        </p:nvSpPr>
        <p:spPr>
          <a:xfrm>
            <a:off x="571486" y="355600"/>
            <a:ext cx="11048724" cy="939800"/>
          </a:xfrm>
          <a:prstGeom prst="roundRect">
            <a:avLst>
              <a:gd name="adj" fmla="val 3649"/>
            </a:avLst>
          </a:prstGeom>
          <a:solidFill>
            <a:srgbClr val="FFFDF8"/>
          </a:solidFill>
          <a:ln/>
        </p:spPr>
      </p:sp>
      <p:sp>
        <p:nvSpPr>
          <p:cNvPr id="4" name="Text 2"/>
          <p:cNvSpPr/>
          <p:nvPr/>
        </p:nvSpPr>
        <p:spPr>
          <a:xfrm>
            <a:off x="628634" y="355600"/>
            <a:ext cx="10934426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25333B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Proposed System Workflow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3842" y="1004491"/>
            <a:ext cx="11544011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85D3B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 handoff model with a validation gate at every turn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783" y="1524000"/>
            <a:ext cx="7937301" cy="2717800"/>
          </a:xfrm>
          <a:prstGeom prst="roundRect">
            <a:avLst>
              <a:gd name="adj" fmla="val 1262"/>
            </a:avLst>
          </a:prstGeom>
          <a:solidFill>
            <a:srgbClr val="D8E2D6"/>
          </a:solidFill>
          <a:ln/>
        </p:spPr>
      </p:sp>
      <p:sp>
        <p:nvSpPr>
          <p:cNvPr id="7" name="Shape 5"/>
          <p:cNvSpPr/>
          <p:nvPr/>
        </p:nvSpPr>
        <p:spPr>
          <a:xfrm>
            <a:off x="571486" y="1397000"/>
            <a:ext cx="7937301" cy="2717800"/>
          </a:xfrm>
          <a:prstGeom prst="roundRect">
            <a:avLst>
              <a:gd name="adj" fmla="val 1262"/>
            </a:avLst>
          </a:prstGeom>
          <a:solidFill>
            <a:srgbClr val="FFFDF8"/>
          </a:solidFill>
          <a:ln/>
        </p:spPr>
      </p:sp>
      <p:sp>
        <p:nvSpPr>
          <p:cNvPr id="8" name="Text 6"/>
          <p:cNvSpPr/>
          <p:nvPr/>
        </p:nvSpPr>
        <p:spPr>
          <a:xfrm>
            <a:off x="628634" y="1397000"/>
            <a:ext cx="782300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A85D3B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CUSTOMER</a:t>
            </a:r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  →  </a:t>
            </a:r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65756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PRODUCTS</a:t>
            </a:r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  →  </a:t>
            </a:r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445B52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CART</a:t>
            </a:r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  →  </a:t>
            </a:r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C77B55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CHECKOUT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C77B55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PAYMENT</a:t>
            </a:r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  →  </a:t>
            </a:r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445B52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ORDER</a:t>
            </a:r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  →  </a:t>
            </a:r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A85D3B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TRACKING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8634" y="2262188"/>
            <a:ext cx="7822905" cy="31651"/>
          </a:xfrm>
          <a:prstGeom prst="roundRect">
            <a:avLst>
              <a:gd name="adj" fmla="val 49998"/>
            </a:avLst>
          </a:prstGeom>
          <a:solidFill>
            <a:srgbClr val="D4B08C"/>
          </a:solidFill>
          <a:ln/>
        </p:spPr>
      </p:sp>
      <p:sp>
        <p:nvSpPr>
          <p:cNvPr id="10" name="Text 8"/>
          <p:cNvSpPr/>
          <p:nvPr/>
        </p:nvSpPr>
        <p:spPr>
          <a:xfrm>
            <a:off x="323842" y="2549525"/>
            <a:ext cx="8432589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E4A4A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Each step passes validated data to the next stage.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940576" y="1524000"/>
            <a:ext cx="2793930" cy="2717800"/>
          </a:xfrm>
          <a:prstGeom prst="roundRect">
            <a:avLst>
              <a:gd name="adj" fmla="val 1262"/>
            </a:avLst>
          </a:prstGeom>
          <a:solidFill>
            <a:srgbClr val="EAD8C4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83428" y="1397000"/>
            <a:ext cx="2679633" cy="1507331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571486" y="4648200"/>
            <a:ext cx="11048724" cy="1524000"/>
          </a:xfrm>
          <a:prstGeom prst="roundRect">
            <a:avLst>
              <a:gd name="adj" fmla="val 2250"/>
            </a:avLst>
          </a:prstGeom>
          <a:solidFill>
            <a:srgbClr val="FFFDF8"/>
          </a:solidFill>
          <a:ln/>
        </p:spPr>
      </p:sp>
      <p:sp>
        <p:nvSpPr>
          <p:cNvPr id="14" name="Text 11"/>
          <p:cNvSpPr/>
          <p:nvPr/>
        </p:nvSpPr>
        <p:spPr>
          <a:xfrm>
            <a:off x="628634" y="4648200"/>
            <a:ext cx="10934426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445B5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Key control points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323842" y="5081191"/>
            <a:ext cx="11544011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E4A4A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Stock check · cart total · payment result · order status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33347" y="6477000"/>
            <a:ext cx="1192500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7E766B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05 · A linear workflow with explicit validation gates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783" y="457200"/>
            <a:ext cx="11048724" cy="838200"/>
          </a:xfrm>
          <a:prstGeom prst="roundRect">
            <a:avLst>
              <a:gd name="adj" fmla="val 4091"/>
            </a:avLst>
          </a:prstGeom>
          <a:solidFill>
            <a:srgbClr val="E7D4BD"/>
          </a:solidFill>
          <a:ln/>
        </p:spPr>
      </p:sp>
      <p:sp>
        <p:nvSpPr>
          <p:cNvPr id="3" name="Shape 1"/>
          <p:cNvSpPr/>
          <p:nvPr/>
        </p:nvSpPr>
        <p:spPr>
          <a:xfrm>
            <a:off x="571486" y="330200"/>
            <a:ext cx="11048724" cy="838200"/>
          </a:xfrm>
          <a:prstGeom prst="roundRect">
            <a:avLst>
              <a:gd name="adj" fmla="val 4091"/>
            </a:avLst>
          </a:prstGeom>
          <a:solidFill>
            <a:srgbClr val="FFFDF8"/>
          </a:solidFill>
          <a:ln/>
        </p:spPr>
      </p:sp>
      <p:sp>
        <p:nvSpPr>
          <p:cNvPr id="4" name="Text 2"/>
          <p:cNvSpPr/>
          <p:nvPr/>
        </p:nvSpPr>
        <p:spPr>
          <a:xfrm>
            <a:off x="628634" y="330200"/>
            <a:ext cx="10934426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25333B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783" y="1422400"/>
            <a:ext cx="7937301" cy="4699000"/>
          </a:xfrm>
          <a:prstGeom prst="roundRect">
            <a:avLst>
              <a:gd name="adj" fmla="val 730"/>
            </a:avLst>
          </a:prstGeom>
          <a:solidFill>
            <a:srgbClr val="D8E2D6"/>
          </a:solidFill>
          <a:ln/>
        </p:spPr>
      </p:sp>
      <p:sp>
        <p:nvSpPr>
          <p:cNvPr id="6" name="Shape 4"/>
          <p:cNvSpPr/>
          <p:nvPr/>
        </p:nvSpPr>
        <p:spPr>
          <a:xfrm>
            <a:off x="571486" y="1295400"/>
            <a:ext cx="7937301" cy="4699000"/>
          </a:xfrm>
          <a:prstGeom prst="roundRect">
            <a:avLst>
              <a:gd name="adj" fmla="val 730"/>
            </a:avLst>
          </a:prstGeom>
          <a:solidFill>
            <a:srgbClr val="FFFDF8"/>
          </a:solidFill>
          <a:ln/>
        </p:spPr>
      </p:sp>
      <p:sp>
        <p:nvSpPr>
          <p:cNvPr id="7" name="Text 5"/>
          <p:cNvSpPr/>
          <p:nvPr/>
        </p:nvSpPr>
        <p:spPr>
          <a:xfrm>
            <a:off x="323842" y="1295400"/>
            <a:ext cx="8432589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A85D3B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STORE DOMAIN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23842" y="1819275"/>
            <a:ext cx="8432589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E4A4A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Product.java · Inventory.java · Customer.java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8634" y="2360613"/>
            <a:ext cx="7822905" cy="31651"/>
          </a:xfrm>
          <a:prstGeom prst="roundRect">
            <a:avLst>
              <a:gd name="adj" fmla="val 49998"/>
            </a:avLst>
          </a:prstGeom>
          <a:solidFill>
            <a:srgbClr val="D4B08C"/>
          </a:solidFill>
          <a:ln/>
        </p:spPr>
      </p:sp>
      <p:sp>
        <p:nvSpPr>
          <p:cNvPr id="10" name="Text 8"/>
          <p:cNvSpPr/>
          <p:nvPr/>
        </p:nvSpPr>
        <p:spPr>
          <a:xfrm>
            <a:off x="323842" y="2647950"/>
            <a:ext cx="8432589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445B52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CART &amp; CHECKOUT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23842" y="3171825"/>
            <a:ext cx="8432589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E4A4A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Cart.java · CartItem.java · Checkout.java · Payment.java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8634" y="3713163"/>
            <a:ext cx="7822905" cy="31651"/>
          </a:xfrm>
          <a:prstGeom prst="roundRect">
            <a:avLst>
              <a:gd name="adj" fmla="val 49998"/>
            </a:avLst>
          </a:prstGeom>
          <a:solidFill>
            <a:srgbClr val="D4B08C"/>
          </a:solidFill>
          <a:ln/>
        </p:spPr>
      </p:sp>
      <p:sp>
        <p:nvSpPr>
          <p:cNvPr id="13" name="Text 11"/>
          <p:cNvSpPr/>
          <p:nvPr/>
        </p:nvSpPr>
        <p:spPr>
          <a:xfrm>
            <a:off x="323842" y="4000500"/>
            <a:ext cx="8432589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C77B55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ORDER SERVICES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23842" y="4524375"/>
            <a:ext cx="8432589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E4A4A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Order.java · OrderProcessor.java · status transitions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940576" y="1422400"/>
            <a:ext cx="2793930" cy="4699000"/>
          </a:xfrm>
          <a:prstGeom prst="roundRect">
            <a:avLst>
              <a:gd name="adj" fmla="val 1227"/>
            </a:avLst>
          </a:prstGeom>
          <a:solidFill>
            <a:srgbClr val="EAD8C4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83428" y="1295400"/>
            <a:ext cx="2679633" cy="3572867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33347" y="6477000"/>
            <a:ext cx="1192500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7E766B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06 · Cohesive classes with clear responsibility boundaries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783" y="457200"/>
            <a:ext cx="11048724" cy="838200"/>
          </a:xfrm>
          <a:prstGeom prst="roundRect">
            <a:avLst>
              <a:gd name="adj" fmla="val 4091"/>
            </a:avLst>
          </a:prstGeom>
          <a:solidFill>
            <a:srgbClr val="E7D4BD"/>
          </a:solidFill>
          <a:ln/>
        </p:spPr>
      </p:sp>
      <p:sp>
        <p:nvSpPr>
          <p:cNvPr id="3" name="Shape 1"/>
          <p:cNvSpPr/>
          <p:nvPr/>
        </p:nvSpPr>
        <p:spPr>
          <a:xfrm>
            <a:off x="571486" y="330200"/>
            <a:ext cx="11048724" cy="838200"/>
          </a:xfrm>
          <a:prstGeom prst="roundRect">
            <a:avLst>
              <a:gd name="adj" fmla="val 4091"/>
            </a:avLst>
          </a:prstGeom>
          <a:solidFill>
            <a:srgbClr val="FFFDF8"/>
          </a:solidFill>
          <a:ln/>
        </p:spPr>
      </p:sp>
      <p:sp>
        <p:nvSpPr>
          <p:cNvPr id="4" name="Text 2"/>
          <p:cNvSpPr/>
          <p:nvPr/>
        </p:nvSpPr>
        <p:spPr>
          <a:xfrm>
            <a:off x="628634" y="330200"/>
            <a:ext cx="10934426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25333B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Order Processing Pipeline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783" y="1701800"/>
            <a:ext cx="7937301" cy="2489200"/>
          </a:xfrm>
          <a:prstGeom prst="roundRect">
            <a:avLst>
              <a:gd name="adj" fmla="val 1378"/>
            </a:avLst>
          </a:prstGeom>
          <a:solidFill>
            <a:srgbClr val="D8E2D6"/>
          </a:solidFill>
          <a:ln/>
        </p:spPr>
      </p:sp>
      <p:sp>
        <p:nvSpPr>
          <p:cNvPr id="6" name="Shape 4"/>
          <p:cNvSpPr/>
          <p:nvPr/>
        </p:nvSpPr>
        <p:spPr>
          <a:xfrm>
            <a:off x="571486" y="1574800"/>
            <a:ext cx="7937301" cy="2489200"/>
          </a:xfrm>
          <a:prstGeom prst="roundRect">
            <a:avLst>
              <a:gd name="adj" fmla="val 1378"/>
            </a:avLst>
          </a:prstGeom>
          <a:solidFill>
            <a:srgbClr val="FFFDF8"/>
          </a:solidFill>
          <a:ln/>
        </p:spPr>
      </p:sp>
      <p:sp>
        <p:nvSpPr>
          <p:cNvPr id="7" name="Text 5"/>
          <p:cNvSpPr/>
          <p:nvPr/>
        </p:nvSpPr>
        <p:spPr>
          <a:xfrm>
            <a:off x="323842" y="1574800"/>
            <a:ext cx="843258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A85D3B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PLACED</a:t>
            </a:r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 → </a:t>
            </a:r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65756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CONFIRMED</a:t>
            </a:r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 → </a:t>
            </a:r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C77B55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PACKED</a:t>
            </a:r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 → </a:t>
            </a:r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445B52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SHIPPED</a:t>
            </a:r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 → </a:t>
            </a:r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8A9A73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DELIVERED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23842" y="2079625"/>
            <a:ext cx="8432589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E4A4A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 status transition makes the order journey visible and testable.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940576" y="1701800"/>
            <a:ext cx="2793930" cy="2489200"/>
          </a:xfrm>
          <a:prstGeom prst="roundRect">
            <a:avLst>
              <a:gd name="adj" fmla="val 1378"/>
            </a:avLst>
          </a:prstGeom>
          <a:solidFill>
            <a:srgbClr val="EAD8C4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83428" y="1574800"/>
            <a:ext cx="2679633" cy="1507331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71486" y="4495800"/>
            <a:ext cx="11048724" cy="1854200"/>
          </a:xfrm>
          <a:prstGeom prst="roundRect">
            <a:avLst>
              <a:gd name="adj" fmla="val 1849"/>
            </a:avLst>
          </a:prstGeom>
          <a:solidFill>
            <a:srgbClr val="FFFDF8"/>
          </a:solidFill>
          <a:ln/>
        </p:spPr>
      </p:sp>
      <p:sp>
        <p:nvSpPr>
          <p:cNvPr id="12" name="Text 9"/>
          <p:cNvSpPr/>
          <p:nvPr/>
        </p:nvSpPr>
        <p:spPr>
          <a:xfrm>
            <a:off x="628634" y="4495800"/>
            <a:ext cx="10934426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445B5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Pipeline logic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323842" y="4928791"/>
            <a:ext cx="11544011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E4A4A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Create an order only after checkout and payment validation. Then update status as fulfillment advances.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33347" y="6477000"/>
            <a:ext cx="1192500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7E766B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07 · Order status turns fulfillment into a traceable sequence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783" y="457200"/>
            <a:ext cx="11048724" cy="838200"/>
          </a:xfrm>
          <a:prstGeom prst="roundRect">
            <a:avLst>
              <a:gd name="adj" fmla="val 4091"/>
            </a:avLst>
          </a:prstGeom>
          <a:solidFill>
            <a:srgbClr val="E7D4BD"/>
          </a:solidFill>
          <a:ln/>
        </p:spPr>
      </p:sp>
      <p:sp>
        <p:nvSpPr>
          <p:cNvPr id="3" name="Shape 1"/>
          <p:cNvSpPr/>
          <p:nvPr/>
        </p:nvSpPr>
        <p:spPr>
          <a:xfrm>
            <a:off x="571486" y="330200"/>
            <a:ext cx="11048724" cy="838200"/>
          </a:xfrm>
          <a:prstGeom prst="roundRect">
            <a:avLst>
              <a:gd name="adj" fmla="val 4091"/>
            </a:avLst>
          </a:prstGeom>
          <a:solidFill>
            <a:srgbClr val="FFFDF8"/>
          </a:solidFill>
          <a:ln/>
        </p:spPr>
      </p:sp>
      <p:sp>
        <p:nvSpPr>
          <p:cNvPr id="4" name="Text 2"/>
          <p:cNvSpPr/>
          <p:nvPr/>
        </p:nvSpPr>
        <p:spPr>
          <a:xfrm>
            <a:off x="628634" y="330200"/>
            <a:ext cx="10934426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25333B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Technologies &amp; Development Approach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783" y="1422400"/>
            <a:ext cx="7937301" cy="4699000"/>
          </a:xfrm>
          <a:prstGeom prst="roundRect">
            <a:avLst>
              <a:gd name="adj" fmla="val 730"/>
            </a:avLst>
          </a:prstGeom>
          <a:solidFill>
            <a:srgbClr val="D8E2D6"/>
          </a:solidFill>
          <a:ln/>
        </p:spPr>
      </p:sp>
      <p:sp>
        <p:nvSpPr>
          <p:cNvPr id="6" name="Shape 4"/>
          <p:cNvSpPr/>
          <p:nvPr/>
        </p:nvSpPr>
        <p:spPr>
          <a:xfrm>
            <a:off x="571486" y="1295400"/>
            <a:ext cx="7937301" cy="4699000"/>
          </a:xfrm>
          <a:prstGeom prst="roundRect">
            <a:avLst>
              <a:gd name="adj" fmla="val 730"/>
            </a:avLst>
          </a:prstGeom>
          <a:solidFill>
            <a:srgbClr val="FFFDF8"/>
          </a:solidFill>
          <a:ln/>
        </p:spPr>
      </p:sp>
      <p:sp>
        <p:nvSpPr>
          <p:cNvPr id="7" name="Text 5"/>
          <p:cNvSpPr/>
          <p:nvPr/>
        </p:nvSpPr>
        <p:spPr>
          <a:xfrm>
            <a:off x="628634" y="1295400"/>
            <a:ext cx="7823004" cy="241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spcAft>
                <a:spcPts val="1550"/>
              </a:spcAft>
              <a:buNone/>
            </a:pPr>
            <a:r>
              <a:rPr lang="en-US" sz="1700" b="1" dirty="0">
                <a:solidFill>
                  <a:srgbClr val="A85D3B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JAVA</a:t>
            </a:r>
            <a:pPr algn="ctr" indent="0" marL="0">
              <a:lnSpc>
                <a:spcPct val="125000"/>
              </a:lnSpc>
              <a:spcAft>
                <a:spcPts val="1550"/>
              </a:spcAft>
              <a:buNone/>
            </a:pPr>
            <a:r>
              <a:rPr lang="en-US" sz="1700" dirty="0">
                <a:solidFill>
                  <a:srgbClr val="3E4A4A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— core implementation language</a:t>
            </a:r>
            <a:endParaRPr lang="en-US" sz="1700" dirty="0"/>
          </a:p>
          <a:p>
            <a:pPr algn="ctr" indent="0" marL="0">
              <a:lnSpc>
                <a:spcPct val="125000"/>
              </a:lnSpc>
              <a:spcAft>
                <a:spcPts val="1550"/>
              </a:spcAft>
              <a:buNone/>
            </a:pPr>
            <a:r>
              <a:rPr lang="en-US" sz="1700" b="1" dirty="0">
                <a:solidFill>
                  <a:srgbClr val="445B52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OOP</a:t>
            </a:r>
            <a:pPr algn="ctr" indent="0" marL="0">
              <a:lnSpc>
                <a:spcPct val="125000"/>
              </a:lnSpc>
              <a:spcAft>
                <a:spcPts val="1550"/>
              </a:spcAft>
              <a:buNone/>
            </a:pPr>
            <a:r>
              <a:rPr lang="en-US" sz="1700" dirty="0">
                <a:solidFill>
                  <a:srgbClr val="3E4A4A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— classes, encapsulation and modular responsibilities</a:t>
            </a:r>
            <a:endParaRPr lang="en-US" sz="1700" dirty="0"/>
          </a:p>
          <a:p>
            <a:pPr algn="ctr" indent="0" marL="0">
              <a:lnSpc>
                <a:spcPct val="125000"/>
              </a:lnSpc>
              <a:spcAft>
                <a:spcPts val="1550"/>
              </a:spcAft>
              <a:buNone/>
            </a:pPr>
            <a:r>
              <a:rPr lang="en-US" sz="1700" b="1" dirty="0">
                <a:solidFill>
                  <a:srgbClr val="C77B55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COLLECTIONS</a:t>
            </a:r>
            <a:pPr algn="ctr" indent="0" marL="0">
              <a:lnSpc>
                <a:spcPct val="125000"/>
              </a:lnSpc>
              <a:spcAft>
                <a:spcPts val="1550"/>
              </a:spcAft>
              <a:buNone/>
            </a:pPr>
            <a:r>
              <a:rPr lang="en-US" sz="1700" dirty="0">
                <a:solidFill>
                  <a:srgbClr val="3E4A4A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— manage products, cart items and orders</a:t>
            </a:r>
            <a:endParaRPr lang="en-US" sz="1700" dirty="0"/>
          </a:p>
          <a:p>
            <a:pPr algn="ctr" indent="0" marL="0">
              <a:lnSpc>
                <a:spcPct val="125000"/>
              </a:lnSpc>
              <a:spcAft>
                <a:spcPts val="1550"/>
              </a:spcAft>
              <a:buNone/>
            </a:pPr>
            <a:r>
              <a:rPr lang="en-US" sz="1700" b="1" dirty="0">
                <a:solidFill>
                  <a:srgbClr val="A85D3B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VALIDATION</a:t>
            </a:r>
            <a:pPr algn="ctr" indent="0" marL="0">
              <a:lnSpc>
                <a:spcPct val="125000"/>
              </a:lnSpc>
              <a:spcAft>
                <a:spcPts val="1550"/>
              </a:spcAft>
              <a:buNone/>
            </a:pPr>
            <a:r>
              <a:rPr lang="en-US" sz="1700" dirty="0">
                <a:solidFill>
                  <a:srgbClr val="3E4A4A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— reject invalid quantities, totals or payment outcomes</a:t>
            </a:r>
            <a:endParaRPr lang="en-US" sz="17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445B52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GIT / TESTING</a:t>
            </a:r>
            <a:pPr algn="ctr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3E4A4A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— track changes and verify each workflow stage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940576" y="1422400"/>
            <a:ext cx="2793930" cy="4699000"/>
          </a:xfrm>
          <a:prstGeom prst="roundRect">
            <a:avLst>
              <a:gd name="adj" fmla="val 1227"/>
            </a:avLst>
          </a:prstGeom>
          <a:solidFill>
            <a:srgbClr val="EAD8C4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83428" y="1295400"/>
            <a:ext cx="2679633" cy="357286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3347" y="6477000"/>
            <a:ext cx="1192500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7E766B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08 · Build in small, testable modules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783" y="457200"/>
            <a:ext cx="11048724" cy="838200"/>
          </a:xfrm>
          <a:prstGeom prst="roundRect">
            <a:avLst>
              <a:gd name="adj" fmla="val 4091"/>
            </a:avLst>
          </a:prstGeom>
          <a:solidFill>
            <a:srgbClr val="E7D4BD"/>
          </a:solidFill>
          <a:ln/>
        </p:spPr>
      </p:sp>
      <p:sp>
        <p:nvSpPr>
          <p:cNvPr id="3" name="Shape 1"/>
          <p:cNvSpPr/>
          <p:nvPr/>
        </p:nvSpPr>
        <p:spPr>
          <a:xfrm>
            <a:off x="571486" y="330200"/>
            <a:ext cx="11048724" cy="838200"/>
          </a:xfrm>
          <a:prstGeom prst="roundRect">
            <a:avLst>
              <a:gd name="adj" fmla="val 4091"/>
            </a:avLst>
          </a:prstGeom>
          <a:solidFill>
            <a:srgbClr val="FFFDF8"/>
          </a:solidFill>
          <a:ln/>
        </p:spPr>
      </p:sp>
      <p:sp>
        <p:nvSpPr>
          <p:cNvPr id="4" name="Text 2"/>
          <p:cNvSpPr/>
          <p:nvPr/>
        </p:nvSpPr>
        <p:spPr>
          <a:xfrm>
            <a:off x="628634" y="330200"/>
            <a:ext cx="10934426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25333B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Expected User Interaction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783" y="1422400"/>
            <a:ext cx="7937301" cy="4699000"/>
          </a:xfrm>
          <a:prstGeom prst="roundRect">
            <a:avLst>
              <a:gd name="adj" fmla="val 730"/>
            </a:avLst>
          </a:prstGeom>
          <a:solidFill>
            <a:srgbClr val="D8E2D6"/>
          </a:solidFill>
          <a:ln/>
        </p:spPr>
      </p:sp>
      <p:sp>
        <p:nvSpPr>
          <p:cNvPr id="6" name="Shape 4"/>
          <p:cNvSpPr/>
          <p:nvPr/>
        </p:nvSpPr>
        <p:spPr>
          <a:xfrm>
            <a:off x="571486" y="1295400"/>
            <a:ext cx="7937301" cy="4699000"/>
          </a:xfrm>
          <a:prstGeom prst="roundRect">
            <a:avLst>
              <a:gd name="adj" fmla="val 730"/>
            </a:avLst>
          </a:prstGeom>
          <a:solidFill>
            <a:srgbClr val="FFFDF8"/>
          </a:solidFill>
          <a:ln/>
        </p:spPr>
      </p:sp>
      <p:sp>
        <p:nvSpPr>
          <p:cNvPr id="7" name="Text 5"/>
          <p:cNvSpPr/>
          <p:nvPr/>
        </p:nvSpPr>
        <p:spPr>
          <a:xfrm>
            <a:off x="628634" y="1295400"/>
            <a:ext cx="7823004" cy="213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A85D3B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1  View products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E4A4A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2  Add a product to the cart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E4A4A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3  View or modify cart quantities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E4A4A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4  Checkout and review total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E4A4A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5  Confirm simulated payment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E4A4A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6  Create and view the order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445B52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7  Track the current order status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8634" y="3684588"/>
            <a:ext cx="7822905" cy="31651"/>
          </a:xfrm>
          <a:prstGeom prst="roundRect">
            <a:avLst>
              <a:gd name="adj" fmla="val 49998"/>
            </a:avLst>
          </a:prstGeom>
          <a:solidFill>
            <a:srgbClr val="D4B08C"/>
          </a:solidFill>
          <a:ln/>
        </p:spPr>
      </p:sp>
      <p:sp>
        <p:nvSpPr>
          <p:cNvPr id="9" name="Text 7"/>
          <p:cNvSpPr/>
          <p:nvPr/>
        </p:nvSpPr>
        <p:spPr>
          <a:xfrm>
            <a:off x="323842" y="3971925"/>
            <a:ext cx="8432589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A85D3B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Example output:</a:t>
            </a:r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</a:t>
            </a:r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E4A4A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Order ID · status · next pipeline step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940576" y="1422400"/>
            <a:ext cx="2793930" cy="4699000"/>
          </a:xfrm>
          <a:prstGeom prst="roundRect">
            <a:avLst>
              <a:gd name="adj" fmla="val 1227"/>
            </a:avLst>
          </a:prstGeom>
          <a:solidFill>
            <a:srgbClr val="EAD8C4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83428" y="1295400"/>
            <a:ext cx="2679633" cy="3572867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33347" y="6477000"/>
            <a:ext cx="1192500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7E766B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09 · A simple interaction model for demonstrating the pipeline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783" y="457200"/>
            <a:ext cx="11048724" cy="838200"/>
          </a:xfrm>
          <a:prstGeom prst="roundRect">
            <a:avLst>
              <a:gd name="adj" fmla="val 4091"/>
            </a:avLst>
          </a:prstGeom>
          <a:solidFill>
            <a:srgbClr val="E7D4BD"/>
          </a:solidFill>
          <a:ln/>
        </p:spPr>
      </p:sp>
      <p:sp>
        <p:nvSpPr>
          <p:cNvPr id="3" name="Shape 1"/>
          <p:cNvSpPr/>
          <p:nvPr/>
        </p:nvSpPr>
        <p:spPr>
          <a:xfrm>
            <a:off x="571486" y="330200"/>
            <a:ext cx="11048724" cy="838200"/>
          </a:xfrm>
          <a:prstGeom prst="roundRect">
            <a:avLst>
              <a:gd name="adj" fmla="val 4091"/>
            </a:avLst>
          </a:prstGeom>
          <a:solidFill>
            <a:srgbClr val="FFFDF8"/>
          </a:solidFill>
          <a:ln/>
        </p:spPr>
      </p:sp>
      <p:sp>
        <p:nvSpPr>
          <p:cNvPr id="4" name="Text 2"/>
          <p:cNvSpPr/>
          <p:nvPr/>
        </p:nvSpPr>
        <p:spPr>
          <a:xfrm>
            <a:off x="628634" y="330200"/>
            <a:ext cx="10934426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25333B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Conclusion &amp; Future Scope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783" y="1473200"/>
            <a:ext cx="7937301" cy="3835400"/>
          </a:xfrm>
          <a:prstGeom prst="roundRect">
            <a:avLst>
              <a:gd name="adj" fmla="val 894"/>
            </a:avLst>
          </a:prstGeom>
          <a:solidFill>
            <a:srgbClr val="D8E2D6"/>
          </a:solidFill>
          <a:ln/>
        </p:spPr>
      </p:sp>
      <p:sp>
        <p:nvSpPr>
          <p:cNvPr id="6" name="Shape 4"/>
          <p:cNvSpPr/>
          <p:nvPr/>
        </p:nvSpPr>
        <p:spPr>
          <a:xfrm>
            <a:off x="571486" y="1346200"/>
            <a:ext cx="7937301" cy="3835400"/>
          </a:xfrm>
          <a:prstGeom prst="roundRect">
            <a:avLst>
              <a:gd name="adj" fmla="val 894"/>
            </a:avLst>
          </a:prstGeom>
          <a:solidFill>
            <a:srgbClr val="FFFDF8"/>
          </a:solidFill>
          <a:ln/>
        </p:spPr>
      </p:sp>
      <p:sp>
        <p:nvSpPr>
          <p:cNvPr id="7" name="Text 5"/>
          <p:cNvSpPr/>
          <p:nvPr/>
        </p:nvSpPr>
        <p:spPr>
          <a:xfrm>
            <a:off x="628634" y="1346200"/>
            <a:ext cx="782300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A85D3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the project demonstrates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28634" y="1809750"/>
            <a:ext cx="78230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E4A4A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 modular Java model can connect catalog management, cart operations, checkout validation, payment simulation and order tracking into one understandable flow.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28634" y="3105150"/>
            <a:ext cx="7823004" cy="289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445B5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Future scope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28634" y="3553420"/>
            <a:ext cx="782300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E4A4A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GUI or web interface · database persistence · authentication · richer inventory rules · coupons · notifications · expanded test coverage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940576" y="1473200"/>
            <a:ext cx="2793930" cy="3835400"/>
          </a:xfrm>
          <a:prstGeom prst="roundRect">
            <a:avLst>
              <a:gd name="adj" fmla="val 1227"/>
            </a:avLst>
          </a:prstGeom>
          <a:solidFill>
            <a:srgbClr val="EAD8C4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83428" y="1346200"/>
            <a:ext cx="2679633" cy="3572867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685783" y="5435600"/>
            <a:ext cx="11048724" cy="1168400"/>
          </a:xfrm>
          <a:prstGeom prst="roundRect">
            <a:avLst>
              <a:gd name="adj" fmla="val 2935"/>
            </a:avLst>
          </a:prstGeom>
          <a:solidFill>
            <a:srgbClr val="C77B55"/>
          </a:solidFill>
          <a:ln/>
        </p:spPr>
      </p:sp>
      <p:sp>
        <p:nvSpPr>
          <p:cNvPr id="14" name="Shape 11"/>
          <p:cNvSpPr/>
          <p:nvPr/>
        </p:nvSpPr>
        <p:spPr>
          <a:xfrm>
            <a:off x="571486" y="5308600"/>
            <a:ext cx="11048724" cy="1168400"/>
          </a:xfrm>
          <a:prstGeom prst="roundRect">
            <a:avLst>
              <a:gd name="adj" fmla="val 2935"/>
            </a:avLst>
          </a:prstGeom>
          <a:solidFill>
            <a:srgbClr val="FFFDF8"/>
          </a:solidFill>
          <a:ln/>
        </p:spPr>
      </p:sp>
      <p:sp>
        <p:nvSpPr>
          <p:cNvPr id="15" name="Text 12"/>
          <p:cNvSpPr/>
          <p:nvPr/>
        </p:nvSpPr>
        <p:spPr>
          <a:xfrm>
            <a:off x="628634" y="5308600"/>
            <a:ext cx="10934426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A85D3B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THANK YOU</a:t>
            </a:r>
            <a:endParaRPr lang="en-US" sz="2500" dirty="0"/>
          </a:p>
        </p:txBody>
      </p:sp>
      <p:sp>
        <p:nvSpPr>
          <p:cNvPr id="16" name="Text 13"/>
          <p:cNvSpPr/>
          <p:nvPr/>
        </p:nvSpPr>
        <p:spPr>
          <a:xfrm>
            <a:off x="323842" y="5848350"/>
            <a:ext cx="11544011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5756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Questions and discussion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33347" y="6477000"/>
            <a:ext cx="1192500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7E766B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10 · A foundation for a fuller e-commerce application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2026-09-21T07:48:01Z</dcterms:created>
  <dcterms:modified xsi:type="dcterms:W3CDTF">2026-09-21T07:48:01Z</dcterms:modified>
</cp:coreProperties>
</file>